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62" r:id="rId4"/>
    <p:sldId id="258" r:id="rId5"/>
    <p:sldId id="259" r:id="rId6"/>
    <p:sldId id="260" r:id="rId7"/>
    <p:sldId id="261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F580170-7A75-4A5A-A933-670EEB86214F}" v="1" dt="2026-08-26T06:10:36.19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6" d="100"/>
          <a:sy n="76" d="100"/>
        </p:scale>
        <p:origin x="91" y="19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URAV KUMAR" userId="ec32c5db61774507" providerId="LiveId" clId="{D8F440F8-315E-484A-9BAF-95ED1AADD39D}"/>
    <pc:docChg chg="modSld">
      <pc:chgData name="SOURAV KUMAR" userId="ec32c5db61774507" providerId="LiveId" clId="{D8F440F8-315E-484A-9BAF-95ED1AADD39D}" dt="2026-08-26T06:10:56.273" v="35" actId="20577"/>
      <pc:docMkLst>
        <pc:docMk/>
      </pc:docMkLst>
      <pc:sldChg chg="addSp delSp modSp mod">
        <pc:chgData name="SOURAV KUMAR" userId="ec32c5db61774507" providerId="LiveId" clId="{D8F440F8-315E-484A-9BAF-95ED1AADD39D}" dt="2026-08-26T06:10:56.273" v="35" actId="20577"/>
        <pc:sldMkLst>
          <pc:docMk/>
          <pc:sldMk cId="0" sldId="256"/>
        </pc:sldMkLst>
        <pc:spChg chg="mod">
          <ac:chgData name="SOURAV KUMAR" userId="ec32c5db61774507" providerId="LiveId" clId="{D8F440F8-315E-484A-9BAF-95ED1AADD39D}" dt="2026-08-26T06:10:41.359" v="31" actId="20577"/>
          <ac:spMkLst>
            <pc:docMk/>
            <pc:sldMk cId="0" sldId="256"/>
            <ac:spMk id="2" creationId="{00000000-0000-0000-0000-000000000000}"/>
          </ac:spMkLst>
        </pc:spChg>
        <pc:spChg chg="add del mod">
          <ac:chgData name="SOURAV KUMAR" userId="ec32c5db61774507" providerId="LiveId" clId="{D8F440F8-315E-484A-9BAF-95ED1AADD39D}" dt="2026-08-26T06:10:46.527" v="33"/>
          <ac:spMkLst>
            <pc:docMk/>
            <pc:sldMk cId="0" sldId="256"/>
            <ac:spMk id="3" creationId="{22D9BE3C-E23D-477B-7945-922F00B83F6C}"/>
          </ac:spMkLst>
        </pc:spChg>
        <pc:spChg chg="mod">
          <ac:chgData name="SOURAV KUMAR" userId="ec32c5db61774507" providerId="LiveId" clId="{D8F440F8-315E-484A-9BAF-95ED1AADD39D}" dt="2026-08-25T12:40:45.446" v="26" actId="20577"/>
          <ac:spMkLst>
            <pc:docMk/>
            <pc:sldMk cId="0" sldId="256"/>
            <ac:spMk id="8" creationId="{00000000-0000-0000-0000-000000000000}"/>
          </ac:spMkLst>
        </pc:spChg>
        <pc:spChg chg="mod">
          <ac:chgData name="SOURAV KUMAR" userId="ec32c5db61774507" providerId="LiveId" clId="{D8F440F8-315E-484A-9BAF-95ED1AADD39D}" dt="2026-08-26T06:10:56.273" v="35" actId="20577"/>
          <ac:spMkLst>
            <pc:docMk/>
            <pc:sldMk cId="0" sldId="256"/>
            <ac:spMk id="12" creationId="{00000000-0000-0000-0000-000000000000}"/>
          </ac:spMkLst>
        </pc:spChg>
        <pc:spChg chg="mod">
          <ac:chgData name="SOURAV KUMAR" userId="ec32c5db61774507" providerId="LiveId" clId="{D8F440F8-315E-484A-9BAF-95ED1AADD39D}" dt="2026-08-25T12:42:08.688" v="27" actId="1076"/>
          <ac:spMkLst>
            <pc:docMk/>
            <pc:sldMk cId="0" sldId="256"/>
            <ac:spMk id="13" creationId="{00000000-0000-0000-0000-000000000000}"/>
          </ac:spMkLst>
        </pc:spChg>
        <pc:spChg chg="mod">
          <ac:chgData name="SOURAV KUMAR" userId="ec32c5db61774507" providerId="LiveId" clId="{D8F440F8-315E-484A-9BAF-95ED1AADD39D}" dt="2026-08-25T12:42:17.509" v="28" actId="1076"/>
          <ac:spMkLst>
            <pc:docMk/>
            <pc:sldMk cId="0" sldId="256"/>
            <ac:spMk id="17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752213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88720" y="320040"/>
            <a:ext cx="98115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B3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 INDIA HACKATHON 2026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0" y="96012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222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TITLE PAGE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" y="1874520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63"/>
                </a:solidFill>
              </a:rPr>
              <a:t>• Problem Statement ID </a:t>
            </a:r>
            <a:r>
              <a:rPr lang="en-US" sz="1600" b="1">
                <a:solidFill>
                  <a:srgbClr val="1B3A63"/>
                </a:solidFill>
              </a:rPr>
              <a:t>– </a:t>
            </a:r>
            <a:r>
              <a:rPr lang="en-US" sz="1600">
                <a:solidFill>
                  <a:srgbClr val="222222"/>
                </a:solidFill>
              </a:rPr>
              <a:t>SIH25-806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2560320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63"/>
                </a:solidFill>
              </a:rPr>
              <a:t>• Problem Statement Title – </a:t>
            </a:r>
            <a:r>
              <a:rPr lang="en-US" sz="1600" dirty="0">
                <a:solidFill>
                  <a:srgbClr val="222222"/>
                </a:solidFill>
              </a:rPr>
              <a:t>EV Charging Station Predictor – Optimal Site Recommendation for Delhi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3246120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63"/>
                </a:solidFill>
              </a:rPr>
              <a:t>• Theme – </a:t>
            </a:r>
            <a:r>
              <a:rPr lang="en-US" sz="1600" dirty="0">
                <a:solidFill>
                  <a:srgbClr val="222222"/>
                </a:solidFill>
              </a:rPr>
              <a:t>Transportation &amp; Logistics / Clean &amp; Green Technology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3931920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63"/>
                </a:solidFill>
              </a:rPr>
              <a:t>• PS Category – </a:t>
            </a:r>
            <a:r>
              <a:rPr lang="en-US" sz="1600" dirty="0">
                <a:solidFill>
                  <a:srgbClr val="222222"/>
                </a:solidFill>
              </a:rPr>
              <a:t>Software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4617720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63"/>
                </a:solidFill>
              </a:rPr>
              <a:t>• Team ID – </a:t>
            </a:r>
            <a:r>
              <a:rPr lang="en-US" sz="1600" dirty="0">
                <a:solidFill>
                  <a:srgbClr val="222222"/>
                </a:solidFill>
              </a:rPr>
              <a:t>SIH2026-HEXAGRAM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1520" y="5523730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63"/>
                </a:solidFill>
              </a:rPr>
              <a:t>• Team Name – </a:t>
            </a:r>
            <a:r>
              <a:rPr lang="en-US" sz="1600" dirty="0">
                <a:solidFill>
                  <a:srgbClr val="222222"/>
                </a:solidFill>
              </a:rPr>
              <a:t>Hexagram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274320" y="6473952"/>
            <a:ext cx="11091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SIH Idea Submission – Delhi EV Charging Intelligence Platform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548872" y="6473952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7" name="TextBox 16"/>
          <p:cNvSpPr txBox="1"/>
          <p:nvPr/>
        </p:nvSpPr>
        <p:spPr>
          <a:xfrm>
            <a:off x="933291" y="4992303"/>
            <a:ext cx="5266542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rPr dirty="0"/>
              <a:t>• Team Leader: Sourav Kumar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rPr dirty="0"/>
              <a:t>• Members: Sumit Kumar, Rishabh Raj, Karishma Kumari Gupta, Abhas Prasad, Rishu Raj</a:t>
            </a:r>
          </a:p>
          <a:p>
            <a:pPr>
              <a:defRPr sz="1100" b="1">
                <a:solidFill>
                  <a:srgbClr val="0096FF"/>
                </a:solidFill>
              </a:defRPr>
            </a:pPr>
            <a:r>
              <a:rPr dirty="0"/>
              <a:t>• Live Prototype: https://souravkr114.github.io/modified-sih-project/</a:t>
            </a:r>
          </a:p>
        </p:txBody>
      </p:sp>
      <p:pic>
        <p:nvPicPr>
          <p:cNvPr id="18" name="Picture 17" descr="sih_logo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0232" y="256032"/>
            <a:ext cx="1051560" cy="10515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6"/>
          <p:cNvSpPr/>
          <p:nvPr/>
        </p:nvSpPr>
        <p:spPr>
          <a:xfrm>
            <a:off x="1188720" y="365760"/>
            <a:ext cx="98115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B3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IDEA TITLE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463040" y="1051560"/>
            <a:ext cx="92628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1565C0"/>
                </a:solidFill>
              </a:rPr>
              <a:t>DELHI EV CHARGING INTELLIGENCE &amp; INVESTMENT PLATFORM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1828800"/>
            <a:ext cx="109087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u="sng" dirty="0">
                <a:solidFill>
                  <a:srgbClr val="1B3A63"/>
                </a:solidFill>
              </a:rPr>
              <a:t>Proposed Solution (Idea / Prototype)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640080" y="2331720"/>
            <a:ext cx="9994392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An AI + GIS decision platform that tells operators/investors exactly WHERE to build a new EV charging station in Delhi — not just a map of existing chargers.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Combines EV density &amp; growth, traffic &amp; road corridors, existing charger capacity/utilisation, commercial activity, parking, metro connectivity, and (optionally) grid feasibility into one location-suitability score.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Ranks candidate sites, explains WHY each is recommended, and projects expected utilisation and financial ROI — answering “where should I invest, and what will I earn?”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Innovation: multi-factor ML ranking model + transparent explainability + investment-grade financial simulation, layered on an interactive Delhi map — built incrementally on Next.js, Supabase and a Python ML service.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274320" y="6473952"/>
            <a:ext cx="11091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SIH Idea Submission – Delhi EV Charging Intelligence Platform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548872" y="6473952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pic>
        <p:nvPicPr>
          <p:cNvPr id="15" name="Picture 14" descr="sih_logo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34472" y="365760"/>
            <a:ext cx="1051560" cy="10515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326136"/>
            <a:ext cx="868680" cy="868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97280" y="438912"/>
            <a:ext cx="9052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B3A63"/>
                </a:solidFill>
                <a:latin typeface="Georgia"/>
              </a:defRPr>
            </a:pPr>
            <a:r>
              <a:t>FEATURES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987552"/>
            <a:ext cx="8869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 i="1">
                <a:solidFill>
                  <a:srgbClr val="1565C0"/>
                </a:solidFill>
                <a:latin typeface="Arial"/>
              </a:defRPr>
            </a:pPr>
            <a:r>
              <a:t>Core capabilities of the Delhi EV Charging Intelligence Platform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572768"/>
            <a:ext cx="3090672" cy="18470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1572768"/>
            <a:ext cx="91440" cy="184708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795528" y="1773936"/>
            <a:ext cx="384048" cy="384048"/>
          </a:xfrm>
          <a:prstGeom prst="ellipse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16736" y="1737360"/>
            <a:ext cx="21488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1B3A63"/>
                </a:solidFill>
                <a:latin typeface="Arial"/>
              </a:defRPr>
            </a:pPr>
            <a:r>
              <a:t>INTERACTIVE DELHI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" y="2286000"/>
            <a:ext cx="2651760" cy="932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50">
                <a:solidFill>
                  <a:srgbClr val="222222"/>
                </a:solidFill>
                <a:latin typeface="Arial"/>
              </a:defRPr>
            </a:pPr>
            <a:r>
              <a:t>Explore charging infrastructure, demand zones, road corridors and relevant locations on an interactive map.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58768" y="1572768"/>
            <a:ext cx="3090672" cy="18470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858768" y="1572768"/>
            <a:ext cx="91440" cy="1847088"/>
          </a:xfrm>
          <a:prstGeom prst="rect">
            <a:avLst/>
          </a:prstGeom>
          <a:solidFill>
            <a:srgbClr val="F47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4087368" y="1773936"/>
            <a:ext cx="384048" cy="384048"/>
          </a:xfrm>
          <a:prstGeom prst="ellipse">
            <a:avLst/>
          </a:prstGeom>
          <a:solidFill>
            <a:srgbClr val="F47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08576" y="1737360"/>
            <a:ext cx="21488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1B3A63"/>
                </a:solidFill>
                <a:latin typeface="Arial"/>
              </a:defRPr>
            </a:pPr>
            <a:r>
              <a:t>AI SITE SUITABILITY SCORE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05656" y="2286000"/>
            <a:ext cx="2651760" cy="932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50">
                <a:solidFill>
                  <a:srgbClr val="222222"/>
                </a:solidFill>
                <a:latin typeface="Arial"/>
              </a:defRPr>
            </a:pPr>
            <a:r>
              <a:t>Combines EV density, traffic, competition, commercial activity, parking and metro connectivity into one score.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50608" y="1572768"/>
            <a:ext cx="3090672" cy="18470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150608" y="1572768"/>
            <a:ext cx="91440" cy="1847088"/>
          </a:xfrm>
          <a:prstGeom prst="rect">
            <a:avLst/>
          </a:prstGeom>
          <a:solidFill>
            <a:srgbClr val="198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7379208" y="1773936"/>
            <a:ext cx="384048" cy="384048"/>
          </a:xfrm>
          <a:prstGeom prst="ellipse">
            <a:avLst/>
          </a:prstGeom>
          <a:solidFill>
            <a:srgbClr val="198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00416" y="1737360"/>
            <a:ext cx="21488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1B3A63"/>
                </a:solidFill>
                <a:latin typeface="Arial"/>
              </a:defRPr>
            </a:pPr>
            <a:r>
              <a:t>SMART SITE RANKING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7496" y="2286000"/>
            <a:ext cx="2651760" cy="932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50">
                <a:solidFill>
                  <a:srgbClr val="222222"/>
                </a:solidFill>
                <a:latin typeface="Arial"/>
              </a:defRPr>
            </a:pPr>
            <a:r>
              <a:t>Ranks candidate locations and surfaces the strongest opportunities for new charging stations.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3730752"/>
            <a:ext cx="3090672" cy="18470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66928" y="3730752"/>
            <a:ext cx="91440" cy="184708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795528" y="3931920"/>
            <a:ext cx="384048" cy="384048"/>
          </a:xfrm>
          <a:prstGeom prst="ellipse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16736" y="3895344"/>
            <a:ext cx="21488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1B3A63"/>
                </a:solidFill>
                <a:latin typeface="Arial"/>
              </a:defRPr>
            </a:pPr>
            <a:r>
              <a:t>UTILISATION FORECAST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6" y="4443984"/>
            <a:ext cx="2651760" cy="932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50">
                <a:solidFill>
                  <a:srgbClr val="222222"/>
                </a:solidFill>
                <a:latin typeface="Arial"/>
              </a:defRPr>
            </a:pPr>
            <a:r>
              <a:t>Estimate expected charging demand and utilisation for a proposed location before deployment.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858768" y="3730752"/>
            <a:ext cx="3090672" cy="18470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858768" y="3730752"/>
            <a:ext cx="91440" cy="1847088"/>
          </a:xfrm>
          <a:prstGeom prst="rect">
            <a:avLst/>
          </a:prstGeom>
          <a:solidFill>
            <a:srgbClr val="F47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4087368" y="3931920"/>
            <a:ext cx="384048" cy="384048"/>
          </a:xfrm>
          <a:prstGeom prst="ellipse">
            <a:avLst/>
          </a:prstGeom>
          <a:solidFill>
            <a:srgbClr val="F47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08576" y="3895344"/>
            <a:ext cx="21488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1B3A63"/>
                </a:solidFill>
                <a:latin typeface="Arial"/>
              </a:defRPr>
            </a:pPr>
            <a:r>
              <a:t>ROI &amp; INVESTMENT SIMULATOR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05656" y="4443984"/>
            <a:ext cx="2651760" cy="932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50">
                <a:solidFill>
                  <a:srgbClr val="222222"/>
                </a:solidFill>
                <a:latin typeface="Arial"/>
              </a:defRPr>
            </a:pPr>
            <a:r>
              <a:t>Project expected financial returns to help operators and investors compare potential sites.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150608" y="3730752"/>
            <a:ext cx="3090672" cy="18470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7150608" y="3730752"/>
            <a:ext cx="91440" cy="1847088"/>
          </a:xfrm>
          <a:prstGeom prst="rect">
            <a:avLst/>
          </a:prstGeom>
          <a:solidFill>
            <a:srgbClr val="198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7379208" y="3931920"/>
            <a:ext cx="384048" cy="384048"/>
          </a:xfrm>
          <a:prstGeom prst="ellipse">
            <a:avLst/>
          </a:prstGeom>
          <a:solidFill>
            <a:srgbClr val="198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00416" y="3895344"/>
            <a:ext cx="21488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1B3A63"/>
                </a:solidFill>
                <a:latin typeface="Arial"/>
              </a:defRPr>
            </a:pPr>
            <a:r>
              <a:t>EXPLAINABLE RECOMMENDATIONS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97496" y="4443984"/>
            <a:ext cx="2651760" cy="932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50">
                <a:solidFill>
                  <a:srgbClr val="222222"/>
                </a:solidFill>
                <a:latin typeface="Arial"/>
              </a:defRPr>
            </a:pPr>
            <a:r>
              <a:t>Shows why a location is recommended with factor-wise scoring instead of a black-box decision.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446520"/>
            <a:ext cx="12188952" cy="36576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74320" y="6446520"/>
            <a:ext cx="10195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Arial"/>
              </a:defRPr>
            </a:pPr>
            <a:r>
              <a:t>SIH Idea Submission – Delhi EV Charging Intelligence Platform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0" y="6446520"/>
            <a:ext cx="594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188720" y="320040"/>
            <a:ext cx="98115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B3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TECHNICAL APPROACH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9994392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Frontend: Next.js, React, TypeScript, Tailwind CSS — interactive Delhi map (Mapbox/Leaflet) with heatmaps, site-ranking panel and dashboards.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Backend &amp; Data: Supabase (Postgres + Auth + Storage) for stations, demand, traffic and infrastructure datasets; REST/Edge Function API layer.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ML Layer: site-suitability scoring model trained on EV density, traffic, competition and demand features; outputs ranked locations with utilisation &amp; ROI estimates.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Methodology — phased, incremental build:</a:t>
            </a:r>
            <a:endParaRPr lang="en-US" sz="1600" dirty="0"/>
          </a:p>
          <a:p>
            <a:pPr marL="0" indent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400" i="1" dirty="0">
                <a:solidFill>
                  <a:srgbClr val="555555"/>
                </a:solidFill>
              </a:rPr>
              <a:t>Stage 1: Frontend + realistic mock data  →  Stage 2: Supabase integration  →  Stage 3: API layer  →  Stage 4: ML model integration  →  Stage 5: replace mock data with real/derived datasets — app stays functional at every stage.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274320" y="6473952"/>
            <a:ext cx="11091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SIH Idea Submission – Delhi EV Charging Intelligence Platform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548872" y="6473952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1100" b="1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pic>
        <p:nvPicPr>
          <p:cNvPr id="9" name="Picture 8" descr="sih_logo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14152" y="297180"/>
            <a:ext cx="1051560" cy="10515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188720" y="320040"/>
            <a:ext cx="98115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B3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FEASIBILITY AND VIABILITY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9994392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Feasible with current, freely available data: Delhi transport/EV registration data, OpenStreetMap road &amp; POI data, and existing charging-station listings; proven low-cost stack (Next.js + Supabase + Python ML).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Key challenges: incomplete real-world charging utilisation data; live traffic/grid-capacity data access; keeping ML recommendations explainable and trustworthy for investors.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Strategies: use clearly-labelled derived/proxy/synthetic data where real data is unavailable (never presented as real); modular incremental architecture so each stage ships a working product; explainable-AI scoring (factor-wise breakdown) instead of a black-box output.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274320" y="6473952"/>
            <a:ext cx="11091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SIH Idea Submission – Delhi EV Charging Intelligence Platform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548872" y="6473952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1100" b="1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pic>
        <p:nvPicPr>
          <p:cNvPr id="9" name="Picture 8" descr="sih_logo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40212" y="274320"/>
            <a:ext cx="1051560" cy="10515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188720" y="320040"/>
            <a:ext cx="98115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B3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 AND BENEFITS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9994392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Target audience: EV charging network operators, private investors, DISCOMs and Delhi Govt transport/energy planners.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Economic: de-risks investment by predicting utilisation &amp; ROI before a station is built, avoiding poorly-placed, low-utilisation chargers.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Social: reduces EV range anxiety and improves charger accessibility across Delhi, encouraging faster EV adoption.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Environmental: supports Delhi's EV policy and clean-air goals by accelerating well-planned charging infrastructure rollout.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274320" y="6473952"/>
            <a:ext cx="11091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SIH Idea Submission – Delhi EV Charging Intelligence Platform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548872" y="6473952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1100" b="1">
                <a:solidFill>
                  <a:srgbClr val="FFFFFF"/>
                </a:solidFill>
              </a:rPr>
              <a:t>6</a:t>
            </a:r>
            <a:endParaRPr lang="en-US" sz="1100" dirty="0"/>
          </a:p>
        </p:txBody>
      </p:sp>
      <p:pic>
        <p:nvPicPr>
          <p:cNvPr id="9" name="Picture 8" descr="sih_logo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40212" y="434340"/>
            <a:ext cx="1051560" cy="10515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188720" y="320040"/>
            <a:ext cx="98115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B3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AND REFERENCES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9994392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Live prototype (frontend demo): souravkr114.github.io/modified-sih-project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Delhi Electric Vehicle Policy – Transport Department, Govt. of NCT of Delhi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Open data references: OpenStreetMap (roads, POIs), Delhi Metro station network, public EV charging station directories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Reference architecture: Next.js + Supabase full-stack pattern; scikit-learn / Python based site-suitability ML modelling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274320" y="6473952"/>
            <a:ext cx="11091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SIH Idea Submission – Delhi EV Charging Intelligence Platform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548872" y="6473952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1100" b="1">
                <a:solidFill>
                  <a:srgbClr val="FFFFFF"/>
                </a:solidFill>
              </a:rPr>
              <a:t>7</a:t>
            </a:r>
            <a:endParaRPr lang="en-US" sz="1100" dirty="0"/>
          </a:p>
        </p:txBody>
      </p:sp>
      <p:pic>
        <p:nvPicPr>
          <p:cNvPr id="9" name="Picture 8" descr="sih_logo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7312" y="274320"/>
            <a:ext cx="1051560" cy="10515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838</Words>
  <Application>Microsoft Office PowerPoint</Application>
  <PresentationFormat>Widescreen</PresentationFormat>
  <Paragraphs>78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SOURAV KUMAR</cp:lastModifiedBy>
  <cp:revision>2</cp:revision>
  <dcterms:created xsi:type="dcterms:W3CDTF">2026-08-25T07:28:59Z</dcterms:created>
  <dcterms:modified xsi:type="dcterms:W3CDTF">2026-08-26T06:11:04Z</dcterms:modified>
</cp:coreProperties>
</file>